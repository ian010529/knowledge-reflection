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g_low_grade_heat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001" y="502920"/>
            <a:ext cx="4042556" cy="5074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868680"/>
            <a:ext cx="5623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D35"/>
                </a:solidFill>
                <a:latin typeface="Microsoft YaHei"/>
              </a:defRPr>
            </a:pPr>
            <a:r>
              <a:t>Thermogalvanic</a:t>
            </a:r>
          </a:p>
          <a:p>
            <a:pPr>
              <a:defRPr sz="3000" b="1">
                <a:solidFill>
                  <a:srgbClr val="122D35"/>
                </a:solidFill>
                <a:latin typeface="Microsoft YaHei"/>
              </a:defRPr>
            </a:pPr>
            <a:r>
              <a:t>低品位热能转换报告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901952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27570"/>
                </a:solidFill>
                <a:latin typeface="Microsoft YaHei"/>
              </a:defRPr>
            </a:pPr>
            <a:r>
              <a:t>从液态 thermocell 到功能聚合物/水凝胶 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0"/>
            <a:ext cx="5074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343A"/>
                </a:solidFill>
                <a:latin typeface="Microsoft YaHei"/>
              </a:defRPr>
            </a:pPr>
            <a:r>
              <a:t>面向 &lt;100 °C 低品位热</a:t>
            </a:r>
          </a:p>
          <a:p>
            <a:pPr>
              <a:spcAft>
                <a:spcPts val="700"/>
              </a:spcAft>
              <a:defRPr sz="1500">
                <a:solidFill>
                  <a:srgbClr val="23343A"/>
                </a:solidFill>
                <a:latin typeface="Microsoft YaHei"/>
              </a:defRPr>
            </a:pPr>
            <a:r>
              <a:t>依赖 redox couple 的热电化学势差</a:t>
            </a:r>
          </a:p>
          <a:p>
            <a:pPr>
              <a:spcAft>
                <a:spcPts val="700"/>
              </a:spcAft>
              <a:defRPr sz="1500">
                <a:solidFill>
                  <a:srgbClr val="23343A"/>
                </a:solidFill>
                <a:latin typeface="Microsoft YaHei"/>
              </a:defRPr>
            </a:pPr>
            <a:r>
              <a:t>以连续输出、柔性集成和稳定性为主线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5349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5E696E"/>
                </a:solidFill>
                <a:latin typeface="Microsoft YaHei"/>
              </a:defRPr>
            </a:pPr>
            <a:r>
              <a:t>综合 7 篇综述：Joule, Adv. Sci., Chem. Sci., Adv. Mater., Chem. Soc. Rev., Natl. Sci. Rev.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338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D36"/>
                </a:solidFill>
                <a:latin typeface="Microsoft YaHei"/>
              </a:defRPr>
            </a:pPr>
            <a:r>
              <a:t>低品位热回收把热电材料推向柔性和分布式场景</a:t>
            </a:r>
          </a:p>
        </p:txBody>
      </p:sp>
      <p:pic>
        <p:nvPicPr>
          <p:cNvPr id="3" name="Picture 2" descr="fig_low_grade_heat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941" y="960120"/>
            <a:ext cx="3969717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0515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2635C"/>
                </a:solidFill>
                <a:latin typeface="Microsoft YaHei"/>
              </a:defRPr>
            </a:pPr>
            <a:r>
              <a:t>&gt;60%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371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65358"/>
                </a:solidFill>
                <a:latin typeface="Microsoft YaHei"/>
              </a:defRPr>
            </a:pPr>
            <a:r>
              <a:t>工业热以废热形式流失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55480" y="10515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2635C"/>
                </a:solidFill>
                <a:latin typeface="Microsoft YaHei"/>
              </a:defRPr>
            </a:pPr>
            <a:r>
              <a:t>&lt;100 °C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1371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65358"/>
                </a:solidFill>
                <a:latin typeface="Microsoft YaHei"/>
              </a:defRPr>
            </a:pPr>
            <a:r>
              <a:t>低品位热常用定义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1488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人体、环境、数据中心和工厂都有温差源</a:t>
            </a:r>
          </a:p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iTE 论文量在 2020 年后快速增长</a:t>
            </a:r>
          </a:p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路线从高 Seebeck 转向稳定功率输出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181344"/>
            <a:ext cx="11384280" cy="347472"/>
          </a:xfrm>
          <a:prstGeom prst="rect">
            <a:avLst/>
          </a:prstGeom>
          <a:solidFill>
            <a:srgbClr val="E6F2F0"/>
          </a:solidFill>
          <a:ln>
            <a:solidFill>
              <a:srgbClr val="BB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44B4A"/>
                </a:solidFill>
                <a:latin typeface="Microsoft YaHei"/>
              </a:defRPr>
            </a:pPr>
            <a:r>
              <a:t>报告主线：thermogalvanic 的价值不只在高热电势，而在可连续把热梯度转成外电路电流。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598932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5C686C"/>
                </a:solidFill>
                <a:latin typeface="Microsoft YaHei"/>
              </a:defRPr>
            </a:pPr>
            <a:r>
              <a:t>Source: Fig. 1, Chem. Soc. Rev.,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338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D36"/>
                </a:solidFill>
                <a:latin typeface="Microsoft YaHei"/>
              </a:defRPr>
            </a:pPr>
            <a:r>
              <a:t>Thermogalvanic cell 用温差打破 redox 平衡</a:t>
            </a:r>
          </a:p>
        </p:txBody>
      </p:sp>
      <p:pic>
        <p:nvPicPr>
          <p:cNvPr id="3" name="Picture 2" descr="fig_liquid_state_thermoc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31" y="1005840"/>
            <a:ext cx="6019800" cy="3611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0880" y="960120"/>
            <a:ext cx="4251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D35"/>
                </a:solidFill>
                <a:latin typeface="Microsoft YaHei"/>
              </a:defRPr>
            </a:pPr>
            <a:r>
              <a:t>基本图景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554480"/>
            <a:ext cx="4480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3343A"/>
                </a:solidFill>
                <a:latin typeface="Microsoft YaHei"/>
              </a:defRPr>
            </a:pPr>
            <a:r>
              <a:t>热端/冷端电极发生相反 redox 反应</a:t>
            </a:r>
          </a:p>
          <a:p>
            <a:pPr>
              <a:spcAft>
                <a:spcPts val="700"/>
              </a:spcAft>
              <a:defRPr sz="1400">
                <a:solidFill>
                  <a:srgbClr val="23343A"/>
                </a:solidFill>
                <a:latin typeface="Microsoft YaHei"/>
              </a:defRPr>
            </a:pPr>
            <a:r>
              <a:t>反应熵差决定温差下的电势偏移</a:t>
            </a:r>
          </a:p>
          <a:p>
            <a:pPr>
              <a:spcAft>
                <a:spcPts val="700"/>
              </a:spcAft>
              <a:defRPr sz="1400">
                <a:solidFill>
                  <a:srgbClr val="23343A"/>
                </a:solidFill>
                <a:latin typeface="Microsoft YaHei"/>
              </a:defRPr>
            </a:pPr>
            <a:r>
              <a:t>离子扩散维持浓度与电荷补偿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324612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7570"/>
                </a:solidFill>
                <a:latin typeface="Microsoft YaHei"/>
              </a:defRPr>
            </a:pPr>
            <a:r>
              <a:t>Si = -(Vhot - Vcold)/(Thot - Tcold)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4032" y="3886200"/>
            <a:ext cx="4160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6464B"/>
                </a:solidFill>
                <a:latin typeface="Microsoft YaHei"/>
              </a:defRPr>
            </a:pPr>
            <a:r>
              <a:t>常见体系：Fe(CN)6^4-/3-, I-/I3-, Fe2+/3+, Co(bpy)3^2+/3+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81344"/>
            <a:ext cx="11384280" cy="347472"/>
          </a:xfrm>
          <a:prstGeom prst="rect">
            <a:avLst/>
          </a:prstGeom>
          <a:solidFill>
            <a:srgbClr val="E6F2F0"/>
          </a:solidFill>
          <a:ln>
            <a:solidFill>
              <a:srgbClr val="BB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44B4A"/>
                </a:solidFill>
                <a:latin typeface="Microsoft YaHei"/>
              </a:defRPr>
            </a:pPr>
            <a:r>
              <a:t>只要热梯度存在并允许电子经外电路返回，TG cell 理论上可维持连续输出。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598932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5C686C"/>
                </a:solidFill>
                <a:latin typeface="Microsoft YaHei"/>
              </a:defRPr>
            </a:pPr>
            <a:r>
              <a:t>Source: Fig. 1, Joule, 2021; Adv. Sci.,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338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D36"/>
                </a:solidFill>
                <a:latin typeface="Microsoft YaHei"/>
              </a:defRPr>
            </a:pPr>
            <a:r>
              <a:t>三类离子热电机制的差别在“电荷是否能连续流出”</a:t>
            </a:r>
          </a:p>
        </p:txBody>
      </p:sp>
      <p:pic>
        <p:nvPicPr>
          <p:cNvPr id="3" name="Picture 2" descr="fig_three_mechanis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691" y="932688"/>
            <a:ext cx="6540817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75320" y="1078992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TD/TCC：离子迁移先形成电压，外接后更像放电过程</a:t>
            </a:r>
          </a:p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TG/TEC：redox 反应把电子交给外电路</a:t>
            </a:r>
          </a:p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Thermoextraction：电极参与离子抽取，评价更复杂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971800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2635C"/>
                </a:solidFill>
                <a:latin typeface="Microsoft YaHei"/>
              </a:defRPr>
            </a:pPr>
            <a:r>
              <a:t>评价维度</a:t>
            </a:r>
          </a:p>
          <a:p>
            <a:pPr algn="ctr">
              <a:defRPr sz="1300" b="0">
                <a:solidFill>
                  <a:srgbClr val="12635C"/>
                </a:solidFill>
                <a:latin typeface="Microsoft YaHei"/>
              </a:defRPr>
            </a:pPr>
            <a:r>
              <a:t>thermopower, ionic/electrical conductivity,</a:t>
            </a:r>
          </a:p>
          <a:p>
            <a:pPr algn="ctr">
              <a:defRPr sz="1300" b="0">
                <a:solidFill>
                  <a:srgbClr val="12635C"/>
                </a:solidFill>
                <a:latin typeface="Microsoft YaHei"/>
              </a:defRPr>
            </a:pPr>
            <a:r>
              <a:t>thermal conductivity, Pmax, ηr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181344"/>
            <a:ext cx="11384280" cy="347472"/>
          </a:xfrm>
          <a:prstGeom prst="rect">
            <a:avLst/>
          </a:prstGeom>
          <a:solidFill>
            <a:srgbClr val="E6F2F0"/>
          </a:solidFill>
          <a:ln>
            <a:solidFill>
              <a:srgbClr val="BB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44B4A"/>
                </a:solidFill>
                <a:latin typeface="Microsoft YaHei"/>
              </a:defRPr>
            </a:pPr>
            <a:r>
              <a:t>Thermogalvanic 的核心价值在于低温差下由 redox 反应维持稳定发电。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598932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5C686C"/>
                </a:solidFill>
                <a:latin typeface="Microsoft YaHei"/>
              </a:defRPr>
            </a:pPr>
            <a:r>
              <a:t>Source: Fig. 1, Adv. Sci.,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338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D36"/>
                </a:solidFill>
                <a:latin typeface="Microsoft YaHei"/>
              </a:defRPr>
            </a:pPr>
            <a:r>
              <a:t>Thermodiffusion 和 thermogalvanic 可协同，但动力学瓶颈不同</a:t>
            </a:r>
          </a:p>
        </p:txBody>
      </p:sp>
      <p:pic>
        <p:nvPicPr>
          <p:cNvPr id="3" name="Picture 2" descr="fig_td_tg_voltage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923" y="896112"/>
            <a:ext cx="6811513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94192" y="10058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TD 给高 thermopower，但容易受充放电循环限制</a:t>
            </a:r>
          </a:p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TG 给连续 power output，但 Seebeck 通常偏低</a:t>
            </a:r>
          </a:p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协同策略试图叠加 Soret 与 redox entropy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2880360"/>
            <a:ext cx="29260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2635C"/>
                </a:solidFill>
                <a:latin typeface="Microsoft YaHei"/>
              </a:defRPr>
            </a:pPr>
            <a:r>
              <a:t>设计目标：</a:t>
            </a:r>
          </a:p>
          <a:p>
            <a:pPr algn="ctr">
              <a:defRPr sz="1400" b="1">
                <a:solidFill>
                  <a:srgbClr val="12635C"/>
                </a:solidFill>
                <a:latin typeface="Microsoft YaHei"/>
              </a:defRPr>
            </a:pPr>
            <a:r>
              <a:t>把高热电势、快速离子传输、</a:t>
            </a:r>
          </a:p>
          <a:p>
            <a:pPr algn="ctr">
              <a:defRPr sz="1400" b="1">
                <a:solidFill>
                  <a:srgbClr val="12635C"/>
                </a:solidFill>
                <a:latin typeface="Microsoft YaHei"/>
              </a:defRPr>
            </a:pPr>
            <a:r>
              <a:t>可逆 redox 和低热导同时推高。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181344"/>
            <a:ext cx="11384280" cy="347472"/>
          </a:xfrm>
          <a:prstGeom prst="rect">
            <a:avLst/>
          </a:prstGeom>
          <a:solidFill>
            <a:srgbClr val="E6F2F0"/>
          </a:solidFill>
          <a:ln>
            <a:solidFill>
              <a:srgbClr val="BB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44B4A"/>
                </a:solidFill>
                <a:latin typeface="Microsoft YaHei"/>
              </a:defRPr>
            </a:pPr>
            <a:r>
              <a:t>从综述脉络看，2020 年后的关键变化是从单一机制优化转向 TD-TG 耦合与器件级持续输出。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598932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5C686C"/>
                </a:solidFill>
                <a:latin typeface="Microsoft YaHei"/>
              </a:defRPr>
            </a:pPr>
            <a:r>
              <a:t>Source: Fig. 2, Adv. Mater.,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338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D36"/>
                </a:solidFill>
                <a:latin typeface="Microsoft YaHei"/>
              </a:defRPr>
            </a:pPr>
            <a:r>
              <a:t>TEG、TCC 与 TEC 的分工决定了材料选择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58368" y="1143000"/>
          <a:ext cx="10515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743200"/>
                <a:gridCol w="3063240"/>
                <a:gridCol w="3063240"/>
              </a:tblGrid>
              <a:tr h="56170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227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TEG</a:t>
                      </a:r>
                    </a:p>
                  </a:txBody>
                  <a:tcPr>
                    <a:solidFill>
                      <a:srgbClr val="227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TCC</a:t>
                      </a:r>
                    </a:p>
                  </a:txBody>
                  <a:tcPr>
                    <a:solidFill>
                      <a:srgbClr val="2275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TEC/TG</a:t>
                      </a:r>
                    </a:p>
                  </a:txBody>
                  <a:tcPr>
                    <a:solidFill>
                      <a:srgbClr val="227570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343A"/>
                          </a:solidFill>
                          <a:latin typeface="Microsoft YaHei"/>
                        </a:defRPr>
                      </a:pPr>
                      <a:r>
                        <a:t>机制</a:t>
                      </a:r>
                    </a:p>
                  </a:txBody>
                  <a:tcPr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343A"/>
                          </a:solidFill>
                          <a:latin typeface="Microsoft YaHei"/>
                        </a:defRPr>
                      </a:pPr>
                      <a:r>
                        <a:t>Seebeck effect</a:t>
                      </a:r>
                    </a:p>
                  </a:txBody>
                  <a:tcPr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343A"/>
                          </a:solidFill>
                          <a:latin typeface="Microsoft YaHei"/>
                        </a:defRPr>
                      </a:pPr>
                      <a:r>
                        <a:t>Thermodiffusion effect</a:t>
                      </a:r>
                    </a:p>
                  </a:txBody>
                  <a:tcPr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343A"/>
                          </a:solidFill>
                          <a:latin typeface="Microsoft YaHei"/>
                        </a:defRPr>
                      </a:pPr>
                      <a:r>
                        <a:t>Thermogalvanic effect</a:t>
                      </a:r>
                    </a:p>
                  </a:txBody>
                  <a:tcPr>
                    <a:solidFill>
                      <a:srgbClr val="F5F9F8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343A"/>
                          </a:solidFill>
                          <a:latin typeface="Microsoft YaHei"/>
                        </a:defRPr>
                      </a:pPr>
                      <a:r>
                        <a:t>载流子</a:t>
                      </a:r>
                    </a:p>
                  </a:txBody>
                  <a:tcPr>
                    <a:solidFill>
                      <a:srgbClr val="ECF4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343A"/>
                          </a:solidFill>
                          <a:latin typeface="Microsoft YaHei"/>
                        </a:defRPr>
                      </a:pPr>
                      <a:r>
                        <a:t>电子/空穴</a:t>
                      </a:r>
                    </a:p>
                  </a:txBody>
                  <a:tcPr>
                    <a:solidFill>
                      <a:srgbClr val="ECF4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343A"/>
                          </a:solidFill>
                          <a:latin typeface="Microsoft YaHei"/>
                        </a:defRPr>
                      </a:pPr>
                      <a:r>
                        <a:t>离子</a:t>
                      </a:r>
                    </a:p>
                  </a:txBody>
                  <a:tcPr>
                    <a:solidFill>
                      <a:srgbClr val="ECF4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343A"/>
                          </a:solidFill>
                          <a:latin typeface="Microsoft YaHei"/>
                        </a:defRPr>
                      </a:pPr>
                      <a:r>
                        <a:t>Redox ions</a:t>
                      </a:r>
                    </a:p>
                  </a:txBody>
                  <a:tcPr>
                    <a:solidFill>
                      <a:srgbClr val="ECF4F2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343A"/>
                          </a:solidFill>
                          <a:latin typeface="Microsoft YaHei"/>
                        </a:defRPr>
                      </a:pPr>
                      <a:r>
                        <a:t>关键材料</a:t>
                      </a:r>
                    </a:p>
                  </a:txBody>
                  <a:tcPr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343A"/>
                          </a:solidFill>
                          <a:latin typeface="Microsoft YaHei"/>
                        </a:defRPr>
                      </a:pPr>
                      <a:r>
                        <a:t>固态半导体</a:t>
                      </a:r>
                    </a:p>
                  </a:txBody>
                  <a:tcPr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343A"/>
                          </a:solidFill>
                          <a:latin typeface="Microsoft YaHei"/>
                        </a:defRPr>
                      </a:pPr>
                      <a:r>
                        <a:t>液体/凝胶/聚合物</a:t>
                      </a:r>
                    </a:p>
                  </a:txBody>
                  <a:tcPr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343A"/>
                          </a:solidFill>
                          <a:latin typeface="Microsoft YaHei"/>
                        </a:defRPr>
                      </a:pPr>
                      <a:r>
                        <a:t>液体/凝胶</a:t>
                      </a:r>
                    </a:p>
                  </a:txBody>
                  <a:tcPr>
                    <a:solidFill>
                      <a:srgbClr val="F5F9F8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343A"/>
                          </a:solidFill>
                          <a:latin typeface="Microsoft YaHei"/>
                        </a:defRPr>
                      </a:pPr>
                      <a:r>
                        <a:t>热电势</a:t>
                      </a:r>
                    </a:p>
                  </a:txBody>
                  <a:tcPr>
                    <a:solidFill>
                      <a:srgbClr val="ECF4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343A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ECF4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343A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ECF4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343A"/>
                          </a:solidFill>
                          <a:latin typeface="Microsoft YaHei"/>
                        </a:defRPr>
                      </a:pPr>
                      <a:r>
                        <a:t>中等</a:t>
                      </a:r>
                    </a:p>
                  </a:txBody>
                  <a:tcPr>
                    <a:solidFill>
                      <a:srgbClr val="ECF4F2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343A"/>
                          </a:solidFill>
                          <a:latin typeface="Microsoft YaHei"/>
                        </a:defRPr>
                      </a:pPr>
                      <a:r>
                        <a:t>工作模式</a:t>
                      </a:r>
                    </a:p>
                  </a:txBody>
                  <a:tcPr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343A"/>
                          </a:solidFill>
                          <a:latin typeface="Microsoft YaHei"/>
                        </a:defRPr>
                      </a:pPr>
                      <a:r>
                        <a:t>连续输出</a:t>
                      </a:r>
                    </a:p>
                  </a:txBody>
                  <a:tcPr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343A"/>
                          </a:solidFill>
                          <a:latin typeface="Microsoft YaHei"/>
                        </a:defRPr>
                      </a:pPr>
                      <a:r>
                        <a:t>间歇输出</a:t>
                      </a:r>
                    </a:p>
                  </a:txBody>
                  <a:tcPr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343A"/>
                          </a:solidFill>
                          <a:latin typeface="Microsoft YaHei"/>
                        </a:defRPr>
                      </a:pPr>
                      <a:r>
                        <a:t>连续输出</a:t>
                      </a:r>
                    </a:p>
                  </a:txBody>
                  <a:tcPr>
                    <a:solidFill>
                      <a:srgbClr val="F5F9F8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343A"/>
                          </a:solidFill>
                          <a:latin typeface="Microsoft YaHei"/>
                        </a:defRPr>
                      </a:pPr>
                      <a:r>
                        <a:t>温度区间</a:t>
                      </a:r>
                    </a:p>
                  </a:txBody>
                  <a:tcPr>
                    <a:solidFill>
                      <a:srgbClr val="ECF4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343A"/>
                          </a:solidFill>
                          <a:latin typeface="Microsoft YaHei"/>
                        </a:defRPr>
                      </a:pPr>
                      <a:r>
                        <a:t>高温常见</a:t>
                      </a:r>
                    </a:p>
                  </a:txBody>
                  <a:tcPr>
                    <a:solidFill>
                      <a:srgbClr val="ECF4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343A"/>
                          </a:solidFill>
                          <a:latin typeface="Microsoft YaHei"/>
                        </a:defRPr>
                      </a:pPr>
                      <a:r>
                        <a:t>低温 &lt;100 °C</a:t>
                      </a:r>
                    </a:p>
                  </a:txBody>
                  <a:tcPr>
                    <a:solidFill>
                      <a:srgbClr val="ECF4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3343A"/>
                          </a:solidFill>
                          <a:latin typeface="Microsoft YaHei"/>
                        </a:defRPr>
                      </a:pPr>
                      <a:r>
                        <a:t>低温 &lt;100 °C</a:t>
                      </a:r>
                    </a:p>
                  </a:txBody>
                  <a:tcPr>
                    <a:solidFill>
                      <a:srgbClr val="ECF4F2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11480" y="6181344"/>
            <a:ext cx="11384280" cy="347472"/>
          </a:xfrm>
          <a:prstGeom prst="rect">
            <a:avLst/>
          </a:prstGeom>
          <a:solidFill>
            <a:srgbClr val="E6F2F0"/>
          </a:solidFill>
          <a:ln>
            <a:solidFill>
              <a:srgbClr val="BB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44B4A"/>
                </a:solidFill>
                <a:latin typeface="Microsoft YaHei"/>
              </a:defRPr>
            </a:pPr>
            <a:r>
              <a:t>TEC/TG 在低温、柔性和连续输出之间取得平衡，因此适合人体热、环境热和小功率传感器。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98932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5C686C"/>
                </a:solidFill>
                <a:latin typeface="Microsoft YaHei"/>
              </a:defRPr>
            </a:pPr>
            <a:r>
              <a:t>Source: 整理自 Table 1, Adv. Sci.,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338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D36"/>
                </a:solidFill>
                <a:latin typeface="Microsoft YaHei"/>
              </a:defRPr>
            </a:pPr>
            <a:r>
              <a:t>离子热电的优势来自高 thermopower，但必须补上导电和力学短板</a:t>
            </a:r>
          </a:p>
        </p:txBody>
      </p:sp>
      <p:pic>
        <p:nvPicPr>
          <p:cNvPr id="3" name="Picture 2" descr="fig_performance_materi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18" y="932688"/>
            <a:ext cx="6804362" cy="5074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14300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TD 型 iTE 的 thermopower 通常最高</a:t>
            </a:r>
          </a:p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TG 型 hydrogel/液态体系兼顾连续输出</a:t>
            </a:r>
          </a:p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功能聚合物把离子动力学和力学性能一起调控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3063240"/>
            <a:ext cx="1371600" cy="320040"/>
          </a:xfrm>
          <a:prstGeom prst="roundRect">
            <a:avLst/>
          </a:prstGeom>
          <a:solidFill>
            <a:srgbClr val="227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分子尺度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10928" y="3063240"/>
            <a:ext cx="1508760" cy="320040"/>
          </a:xfrm>
          <a:prstGeom prst="roundRect">
            <a:avLst/>
          </a:prstGeom>
          <a:solidFill>
            <a:srgbClr val="227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微结构尺度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3703320"/>
            <a:ext cx="1371600" cy="320040"/>
          </a:xfrm>
          <a:prstGeom prst="roundRect">
            <a:avLst/>
          </a:prstGeom>
          <a:solidFill>
            <a:srgbClr val="227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器件尺度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81344"/>
            <a:ext cx="11384280" cy="347472"/>
          </a:xfrm>
          <a:prstGeom prst="rect">
            <a:avLst/>
          </a:prstGeom>
          <a:solidFill>
            <a:srgbClr val="E6F2F0"/>
          </a:solidFill>
          <a:ln>
            <a:solidFill>
              <a:srgbClr val="BB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44B4A"/>
                </a:solidFill>
                <a:latin typeface="Microsoft YaHei"/>
              </a:defRPr>
            </a:pPr>
            <a:r>
              <a:t>热电势、离子电导率、热导率和机械稳定性互相牵制，多尺度聚合物设计是当前综述共同强调的方向。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598932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5C686C"/>
                </a:solidFill>
                <a:latin typeface="Microsoft YaHei"/>
              </a:defRPr>
            </a:pPr>
            <a:r>
              <a:t>Source: Fig. 1, Adv. Mater.,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338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D36"/>
                </a:solidFill>
                <a:latin typeface="Microsoft YaHei"/>
              </a:defRPr>
            </a:pPr>
            <a:r>
              <a:t>材料谱系从液态电解质扩展到凝胶、聚电解质和多孔固态框架</a:t>
            </a:r>
          </a:p>
        </p:txBody>
      </p:sp>
      <p:pic>
        <p:nvPicPr>
          <p:cNvPr id="3" name="Picture 2" descr="fig_material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871" y="896112"/>
            <a:ext cx="4005256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82127" y="1005840"/>
            <a:ext cx="35661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3343A"/>
                </a:solidFill>
                <a:latin typeface="Microsoft YaHei"/>
              </a:defRPr>
            </a:pPr>
            <a:r>
              <a:t>液态：反应动力学快，但泄漏/封装压力大</a:t>
            </a:r>
          </a:p>
          <a:p>
            <a:pPr>
              <a:spcAft>
                <a:spcPts val="700"/>
              </a:spcAft>
              <a:defRPr sz="1200">
                <a:solidFill>
                  <a:srgbClr val="23343A"/>
                </a:solidFill>
                <a:latin typeface="Microsoft YaHei"/>
              </a:defRPr>
            </a:pPr>
            <a:r>
              <a:t>凝胶态：柔性、形状保持和可穿戴友好</a:t>
            </a:r>
          </a:p>
          <a:p>
            <a:pPr>
              <a:spcAft>
                <a:spcPts val="700"/>
              </a:spcAft>
              <a:defRPr sz="1200">
                <a:solidFill>
                  <a:srgbClr val="23343A"/>
                </a:solidFill>
                <a:latin typeface="Microsoft YaHei"/>
              </a:defRPr>
            </a:pPr>
            <a:r>
              <a:t>聚电解质：离子选择性和链段相互作用更强</a:t>
            </a:r>
          </a:p>
          <a:p>
            <a:pPr>
              <a:spcAft>
                <a:spcPts val="700"/>
              </a:spcAft>
              <a:defRPr sz="1200">
                <a:solidFill>
                  <a:srgbClr val="23343A"/>
                </a:solidFill>
                <a:latin typeface="Microsoft YaHei"/>
              </a:defRPr>
            </a:pPr>
            <a:r>
              <a:t>多孔固态：通道和界面可设计，制备更复杂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3703320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2635C"/>
                </a:solidFill>
                <a:latin typeface="Microsoft YaHei"/>
              </a:defRPr>
            </a:pPr>
            <a:r>
              <a:t>Thermogalvanic 报告重点：</a:t>
            </a:r>
          </a:p>
          <a:p>
            <a:pPr algn="ctr">
              <a:defRPr sz="1500" b="1">
                <a:solidFill>
                  <a:srgbClr val="12635C"/>
                </a:solidFill>
                <a:latin typeface="Microsoft YaHei"/>
              </a:defRPr>
            </a:pPr>
            <a:r>
              <a:t>redox couple + 凝胶/聚合物矩阵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181344"/>
            <a:ext cx="11384280" cy="347472"/>
          </a:xfrm>
          <a:prstGeom prst="rect">
            <a:avLst/>
          </a:prstGeom>
          <a:solidFill>
            <a:srgbClr val="E6F2F0"/>
          </a:solidFill>
          <a:ln>
            <a:solidFill>
              <a:srgbClr val="BB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44B4A"/>
                </a:solidFill>
                <a:latin typeface="Microsoft YaHei"/>
              </a:defRPr>
            </a:pPr>
            <a:r>
              <a:t>材料选择本质上是在“离子流动、redox 可逆性、热管理和可穿戴力学”之间做系统权衡。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598932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5C686C"/>
                </a:solidFill>
                <a:latin typeface="Microsoft YaHei"/>
              </a:defRPr>
            </a:pPr>
            <a:r>
              <a:t>Source: Fig. 2, Natl. Sci. Rev.,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338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D36"/>
                </a:solidFill>
                <a:latin typeface="Microsoft YaHei"/>
              </a:defRPr>
            </a:pPr>
            <a:r>
              <a:t>Redox couple 的反应熵和溶剂化结构决定 TG 热电势</a:t>
            </a:r>
          </a:p>
        </p:txBody>
      </p:sp>
      <p:pic>
        <p:nvPicPr>
          <p:cNvPr id="3" name="Picture 2" descr="fig_redox_couples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058" y="941832"/>
            <a:ext cx="5877098" cy="4617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60920" y="1051560"/>
            <a:ext cx="3794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p-type: Fe(CN)6^4-/3-, Fc/Fc+</a:t>
            </a:r>
          </a:p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n-type: Fe2+/3+, I-/I3-, Cu/Cu2+</a:t>
            </a:r>
          </a:p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Gdm+、溶剂 donor number、选择性捕获可放大 ΔSredox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360" y="3154680"/>
            <a:ext cx="3611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2635C"/>
                </a:solidFill>
                <a:latin typeface="Microsoft YaHei"/>
              </a:defRPr>
            </a:pPr>
            <a:r>
              <a:t>α ≈ ΔSredox / nF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71231" y="4041648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15055"/>
                </a:solidFill>
                <a:latin typeface="Microsoft YaHei"/>
              </a:defRPr>
            </a:pPr>
            <a:r>
              <a:t>增强策略必须同时检查沉淀、扩散、可逆性和电极兼容性。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181344"/>
            <a:ext cx="11384280" cy="347472"/>
          </a:xfrm>
          <a:prstGeom prst="rect">
            <a:avLst/>
          </a:prstGeom>
          <a:solidFill>
            <a:srgbClr val="E6F2F0"/>
          </a:solidFill>
          <a:ln>
            <a:solidFill>
              <a:srgbClr val="BB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44B4A"/>
                </a:solidFill>
                <a:latin typeface="Microsoft YaHei"/>
              </a:defRPr>
            </a:pPr>
            <a:r>
              <a:t>提升 TG performance 的第一层杠杆是 redox chemistry，第二层才是聚合物网络和器件封装。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598932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5C686C"/>
                </a:solidFill>
                <a:latin typeface="Microsoft YaHei"/>
              </a:defRPr>
            </a:pPr>
            <a:r>
              <a:t>Source: Fig. 6, Natl. Sci. Rev.,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338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D36"/>
                </a:solidFill>
                <a:latin typeface="Microsoft YaHei"/>
              </a:defRPr>
            </a:pPr>
            <a:r>
              <a:t>Thermogalvanic hydrogels 把 redox 化学嵌入柔性离子网络</a:t>
            </a:r>
          </a:p>
        </p:txBody>
      </p:sp>
      <p:pic>
        <p:nvPicPr>
          <p:cNvPr id="3" name="Picture 2" descr="fig_hydrogel_sy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50895"/>
            <a:ext cx="7178040" cy="47641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2440" y="960120"/>
            <a:ext cx="3337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3343A"/>
                </a:solidFill>
                <a:latin typeface="Microsoft YaHei"/>
              </a:defRPr>
            </a:pPr>
            <a:r>
              <a:t>天然/合成聚合物提供水保持和柔性</a:t>
            </a:r>
          </a:p>
          <a:p>
            <a:pPr>
              <a:spcAft>
                <a:spcPts val="700"/>
              </a:spcAft>
              <a:defRPr sz="1200">
                <a:solidFill>
                  <a:srgbClr val="23343A"/>
                </a:solidFill>
                <a:latin typeface="Microsoft YaHei"/>
              </a:defRPr>
            </a:pPr>
            <a:r>
              <a:t>链段相互作用调节 Fe(CN)6、I-/I3- 等扩散</a:t>
            </a:r>
          </a:p>
          <a:p>
            <a:pPr>
              <a:spcAft>
                <a:spcPts val="700"/>
              </a:spcAft>
              <a:defRPr sz="1200">
                <a:solidFill>
                  <a:srgbClr val="23343A"/>
                </a:solidFill>
                <a:latin typeface="Microsoft YaHei"/>
              </a:defRPr>
            </a:pPr>
            <a:r>
              <a:t>协同 TD-TG 可提高 apparent thermopower</a:t>
            </a:r>
          </a:p>
          <a:p>
            <a:pPr>
              <a:spcAft>
                <a:spcPts val="700"/>
              </a:spcAft>
              <a:defRPr sz="1200">
                <a:solidFill>
                  <a:srgbClr val="23343A"/>
                </a:solidFill>
                <a:latin typeface="Microsoft YaHei"/>
              </a:defRPr>
            </a:pPr>
            <a:r>
              <a:t>机械稳定与长期水分保持仍是难点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3520440"/>
            <a:ext cx="315468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2635C"/>
                </a:solidFill>
                <a:latin typeface="Microsoft YaHei"/>
              </a:defRPr>
            </a:pPr>
            <a:r>
              <a:t>Hydrogel 作为可设计离子网络，</a:t>
            </a:r>
          </a:p>
          <a:p>
            <a:pPr algn="ctr">
              <a:defRPr sz="1300" b="1">
                <a:solidFill>
                  <a:srgbClr val="12635C"/>
                </a:solidFill>
                <a:latin typeface="Microsoft YaHei"/>
              </a:defRPr>
            </a:pPr>
            <a:r>
              <a:t>同步调控 solvation、transport 和 mechanics。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181344"/>
            <a:ext cx="11384280" cy="347472"/>
          </a:xfrm>
          <a:prstGeom prst="rect">
            <a:avLst/>
          </a:prstGeom>
          <a:solidFill>
            <a:srgbClr val="E6F2F0"/>
          </a:solidFill>
          <a:ln>
            <a:solidFill>
              <a:srgbClr val="BB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44B4A"/>
                </a:solidFill>
                <a:latin typeface="Microsoft YaHei"/>
              </a:defRPr>
            </a:pPr>
            <a:r>
              <a:t>水凝胶的设计目标正在从“能发电”转向“可弯折、可封装、可持续输出”。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598932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5C686C"/>
                </a:solidFill>
                <a:latin typeface="Microsoft YaHei"/>
              </a:defRPr>
            </a:pPr>
            <a:r>
              <a:t>Source: Fig. 2, Adv. Sci.,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338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D36"/>
                </a:solidFill>
                <a:latin typeface="Microsoft YaHei"/>
              </a:defRPr>
            </a:pPr>
            <a:r>
              <a:t>器件集成要解决小 ΔT 下的电压叠加和热路径管理</a:t>
            </a:r>
          </a:p>
        </p:txBody>
      </p:sp>
      <p:pic>
        <p:nvPicPr>
          <p:cNvPr id="3" name="Picture 2" descr="fig_device_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8700"/>
            <a:ext cx="713232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65008" y="100584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Z 型连接适合同种 p/n 单元串联</a:t>
            </a:r>
          </a:p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Pi 型连接适合 p-type 与 n-type 组合</a:t>
            </a:r>
          </a:p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垂直结构利于穿戴贴合，横向结构利于柔性布线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3154680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2635C"/>
                </a:solidFill>
                <a:latin typeface="Microsoft YaHei"/>
              </a:defRPr>
            </a:pPr>
            <a:r>
              <a:t>关键工程量：</a:t>
            </a:r>
          </a:p>
          <a:p>
            <a:pPr algn="ctr">
              <a:defRPr sz="1300" b="1">
                <a:solidFill>
                  <a:srgbClr val="12635C"/>
                </a:solidFill>
                <a:latin typeface="Microsoft YaHei"/>
              </a:defRPr>
            </a:pPr>
            <a:r>
              <a:t>热端/冷端隔离、电极面积、</a:t>
            </a:r>
          </a:p>
          <a:p>
            <a:pPr algn="ctr">
              <a:defRPr sz="1300" b="1">
                <a:solidFill>
                  <a:srgbClr val="12635C"/>
                </a:solidFill>
                <a:latin typeface="Microsoft YaHei"/>
              </a:defRPr>
            </a:pPr>
            <a:r>
              <a:t>内阻、封装和含水稳定性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181344"/>
            <a:ext cx="11384280" cy="347472"/>
          </a:xfrm>
          <a:prstGeom prst="rect">
            <a:avLst/>
          </a:prstGeom>
          <a:solidFill>
            <a:srgbClr val="E6F2F0"/>
          </a:solidFill>
          <a:ln>
            <a:solidFill>
              <a:srgbClr val="BB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44B4A"/>
                </a:solidFill>
                <a:latin typeface="Microsoft YaHei"/>
              </a:defRPr>
            </a:pPr>
            <a:r>
              <a:t>从单电池走向模块时，材料性能会被热短路、界面电阻和封装稳定性重新排序。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598932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5C686C"/>
                </a:solidFill>
                <a:latin typeface="Microsoft YaHei"/>
              </a:defRPr>
            </a:pPr>
            <a:r>
              <a:t>Source: Fig. 10, Adv. Sci., 2025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338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D36"/>
                </a:solidFill>
                <a:latin typeface="Microsoft YaHei"/>
              </a:defRPr>
            </a:pPr>
            <a:r>
              <a:t>应用从人体热采集扩展到太阳光、湿热和自供能传感</a:t>
            </a:r>
          </a:p>
        </p:txBody>
      </p:sp>
      <p:pic>
        <p:nvPicPr>
          <p:cNvPr id="3" name="Picture 2" descr="fig_wearable_appl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99" y="914400"/>
            <a:ext cx="4817560" cy="2542032"/>
          </a:xfrm>
          <a:prstGeom prst="rect">
            <a:avLst/>
          </a:prstGeom>
        </p:spPr>
      </p:pic>
      <p:pic>
        <p:nvPicPr>
          <p:cNvPr id="4" name="Picture 3" descr="fig_photothermal_steam_ap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986" y="3566160"/>
            <a:ext cx="3907387" cy="205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63640" y="1051560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皮肤、手腕、足底、衣物和背包是最常见演示平台</a:t>
            </a:r>
          </a:p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光热层可把太阳光转换成局部 ΔT</a:t>
            </a:r>
          </a:p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蒸汽/湿热体系把人体呼吸和环境湿度纳入能量源</a:t>
            </a:r>
          </a:p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短期演示多，长期稳定运行和标准化评价不足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3794760"/>
            <a:ext cx="4343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2635C"/>
                </a:solidFill>
                <a:latin typeface="Microsoft YaHei"/>
              </a:defRPr>
            </a:pPr>
            <a:r>
              <a:t>真正的应用门槛：</a:t>
            </a:r>
          </a:p>
          <a:p>
            <a:pPr algn="ctr">
              <a:defRPr sz="1400" b="1">
                <a:solidFill>
                  <a:srgbClr val="12635C"/>
                </a:solidFill>
                <a:latin typeface="Microsoft YaHei"/>
              </a:defRPr>
            </a:pPr>
            <a:r>
              <a:t>输出功率是否覆盖传感/通信负载，</a:t>
            </a:r>
          </a:p>
          <a:p>
            <a:pPr algn="ctr">
              <a:defRPr sz="1400" b="1">
                <a:solidFill>
                  <a:srgbClr val="12635C"/>
                </a:solidFill>
                <a:latin typeface="Microsoft YaHei"/>
              </a:defRPr>
            </a:pPr>
            <a:r>
              <a:t>并在汗液、弯折、蒸发和温度波动下保持稳定。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181344"/>
            <a:ext cx="11384280" cy="347472"/>
          </a:xfrm>
          <a:prstGeom prst="rect">
            <a:avLst/>
          </a:prstGeom>
          <a:solidFill>
            <a:srgbClr val="E6F2F0"/>
          </a:solidFill>
          <a:ln>
            <a:solidFill>
              <a:srgbClr val="BB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44B4A"/>
                </a:solidFill>
                <a:latin typeface="Microsoft YaHei"/>
              </a:defRPr>
            </a:pPr>
            <a:r>
              <a:t>Thermogalvanic 最自然的落点是低功耗、低温差、分布式、柔性自供能系统。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598932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5C686C"/>
                </a:solidFill>
                <a:latin typeface="Microsoft YaHei"/>
              </a:defRPr>
            </a:pPr>
            <a:r>
              <a:t>Source: Figs. 13 and 15, Adv. Mater.,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338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D36"/>
                </a:solidFill>
                <a:latin typeface="Microsoft YaHei"/>
              </a:defRPr>
            </a:pPr>
            <a:r>
              <a:t>走向 power supply 仍卡在效率、功率密度和稳定性三处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143000" cy="320040"/>
          </a:xfrm>
          <a:prstGeom prst="roundRect">
            <a:avLst/>
          </a:prstGeom>
          <a:solidFill>
            <a:srgbClr val="227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效率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高 α 不等于高 η</a:t>
            </a:r>
          </a:p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热导和内阻会吞掉温差收益</a:t>
            </a:r>
          </a:p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需要统一 ηr/Pmax 评价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234440"/>
            <a:ext cx="1143000" cy="320040"/>
          </a:xfrm>
          <a:prstGeom prst="roundRect">
            <a:avLst/>
          </a:prstGeom>
          <a:solidFill>
            <a:srgbClr val="227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功率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7373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单电池输出仍偏低</a:t>
            </a:r>
          </a:p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模块串并联带来界面损耗</a:t>
            </a:r>
          </a:p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n-type 半电池选择较少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34440"/>
            <a:ext cx="1143000" cy="320040"/>
          </a:xfrm>
          <a:prstGeom prst="roundRect">
            <a:avLst/>
          </a:prstGeom>
          <a:solidFill>
            <a:srgbClr val="227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稳定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737360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液体泄漏、凝胶脱水</a:t>
            </a:r>
          </a:p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redox 交叉扩散和副反应</a:t>
            </a:r>
          </a:p>
          <a:p>
            <a:pPr>
              <a:spcAft>
                <a:spcPts val="700"/>
              </a:spcAft>
              <a:defRPr sz="1300">
                <a:solidFill>
                  <a:srgbClr val="23343A"/>
                </a:solidFill>
                <a:latin typeface="Microsoft YaHei"/>
              </a:defRPr>
            </a:pPr>
            <a:r>
              <a:t>弯折/汗液/温度循环老化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05072"/>
            <a:ext cx="10195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2635C"/>
                </a:solidFill>
                <a:latin typeface="Microsoft YaHei"/>
              </a:defRPr>
            </a:pPr>
            <a:r>
              <a:t>综述共同指向的研究策略：以 redox thermodynamics 为起点，以 polymer-ion interaction 为调控轴，以 module-level heat/electron/ion pathway 为验收标准。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181344"/>
            <a:ext cx="11384280" cy="347472"/>
          </a:xfrm>
          <a:prstGeom prst="rect">
            <a:avLst/>
          </a:prstGeom>
          <a:solidFill>
            <a:srgbClr val="E6F2F0"/>
          </a:solidFill>
          <a:ln>
            <a:solidFill>
              <a:srgbClr val="BB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44B4A"/>
                </a:solidFill>
                <a:latin typeface="Microsoft YaHei"/>
              </a:defRPr>
            </a:pPr>
            <a:r>
              <a:t>下一阶段竞争不在“最高热电势记录”，而在可复制、可封装、可持续供电的系统指标。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338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D36"/>
                </a:solidFill>
                <a:latin typeface="Microsoft YaHei"/>
              </a:defRPr>
            </a:pPr>
            <a:r>
              <a:t>结论：Thermogalvanic 是低品位热到小功率电源的柔性路径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343A"/>
                </a:solidFill>
                <a:latin typeface="Microsoft YaHei"/>
              </a:defRPr>
            </a:pPr>
            <a:r>
              <a:t>低品位热广泛存在，适配柔性/分布式 iTE</a:t>
            </a:r>
          </a:p>
          <a:p>
            <a:pPr>
              <a:spcAft>
                <a:spcPts val="700"/>
              </a:spcAft>
              <a:defRPr sz="1500">
                <a:solidFill>
                  <a:srgbClr val="23343A"/>
                </a:solidFill>
                <a:latin typeface="Microsoft YaHei"/>
              </a:defRPr>
            </a:pPr>
            <a:r>
              <a:t>TG 通过 redox entropy 产生电势并支持连续输出</a:t>
            </a:r>
          </a:p>
          <a:p>
            <a:pPr>
              <a:spcAft>
                <a:spcPts val="700"/>
              </a:spcAft>
              <a:defRPr sz="1500">
                <a:solidFill>
                  <a:srgbClr val="23343A"/>
                </a:solidFill>
                <a:latin typeface="Microsoft YaHei"/>
              </a:defRPr>
            </a:pPr>
            <a:r>
              <a:t>功能聚合物把 solvation、diffusion 和 mechanics 耦合调控</a:t>
            </a:r>
          </a:p>
          <a:p>
            <a:pPr>
              <a:spcAft>
                <a:spcPts val="700"/>
              </a:spcAft>
              <a:defRPr sz="1500">
                <a:solidFill>
                  <a:srgbClr val="23343A"/>
                </a:solidFill>
                <a:latin typeface="Microsoft YaHei"/>
              </a:defRPr>
            </a:pPr>
            <a:r>
              <a:t>水凝胶推动可穿戴集成，但长期稳定仍需工程化验证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261872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D35"/>
                </a:solidFill>
                <a:latin typeface="Microsoft YaHei"/>
              </a:defRPr>
            </a:pPr>
            <a:r>
              <a:t>建议报告重点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74519"/>
            <a:ext cx="4389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3343A"/>
                </a:solidFill>
                <a:latin typeface="Microsoft YaHei"/>
              </a:defRPr>
            </a:pPr>
            <a:r>
              <a:t>先讲“连续输出”而非只讲高 Seebeck</a:t>
            </a:r>
          </a:p>
          <a:p>
            <a:pPr>
              <a:spcAft>
                <a:spcPts val="700"/>
              </a:spcAft>
              <a:defRPr sz="1400">
                <a:solidFill>
                  <a:srgbClr val="23343A"/>
                </a:solidFill>
                <a:latin typeface="Microsoft YaHei"/>
              </a:defRPr>
            </a:pPr>
            <a:r>
              <a:t>材料对比用 α-σ-κ 和液态/凝胶/聚电解质分类图</a:t>
            </a:r>
          </a:p>
          <a:p>
            <a:pPr>
              <a:spcAft>
                <a:spcPts val="700"/>
              </a:spcAft>
              <a:defRPr sz="1400">
                <a:solidFill>
                  <a:srgbClr val="23343A"/>
                </a:solidFill>
                <a:latin typeface="Microsoft YaHei"/>
              </a:defRPr>
            </a:pPr>
            <a:r>
              <a:t>水凝胶部分强调 redox couple 与聚合物网络的协同</a:t>
            </a:r>
          </a:p>
          <a:p>
            <a:pPr>
              <a:spcAft>
                <a:spcPts val="700"/>
              </a:spcAft>
              <a:defRPr sz="1400">
                <a:solidFill>
                  <a:srgbClr val="23343A"/>
                </a:solidFill>
                <a:latin typeface="Microsoft YaHei"/>
              </a:defRPr>
            </a:pPr>
            <a:r>
              <a:t>展望聚焦标准化测试和模块级稳定功率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578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635C"/>
                </a:solidFill>
                <a:latin typeface="Microsoft YaHei"/>
              </a:defRPr>
            </a:pPr>
            <a:r>
              <a:t>Take-home message: thermogalvanic 的核心挑战是把高反应熵差转化为低内阻、低热损失、长寿命的连续电源。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